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8"/>
  </p:notesMasterIdLst>
  <p:handoutMasterIdLst>
    <p:handoutMasterId r:id="rId9"/>
  </p:handoutMasterIdLst>
  <p:sldIdLst>
    <p:sldId id="256" r:id="rId2"/>
    <p:sldId id="261" r:id="rId3"/>
    <p:sldId id="258" r:id="rId4"/>
    <p:sldId id="263" r:id="rId5"/>
    <p:sldId id="262"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7" autoAdjust="0"/>
    <p:restoredTop sz="94648" autoAdjust="0"/>
  </p:normalViewPr>
  <p:slideViewPr>
    <p:cSldViewPr snapToGrid="0">
      <p:cViewPr>
        <p:scale>
          <a:sx n="70" d="100"/>
          <a:sy n="70" d="100"/>
        </p:scale>
        <p:origin x="618" y="-1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4/22/2026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4/22/2026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4/22/2026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datasets/ahmedshahriarsakib/usa-real-estate-datase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claude.ai.com/" TargetMode="External"/><Relationship Id="rId4" Type="http://schemas.openxmlformats.org/officeDocument/2006/relationships/hyperlink" Target="https://github.com/Edcaly/Airbnb-Analy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5400" dirty="0">
                <a:solidFill>
                  <a:schemeClr val="bg1"/>
                </a:solidFill>
              </a:rPr>
              <a:t>Airbnb business performance</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Edcaly Laguerre and Lalla Fall</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INTRODUCTION</a:t>
            </a:r>
          </a:p>
        </p:txBody>
      </p:sp>
      <p:sp>
        <p:nvSpPr>
          <p:cNvPr id="5" name="Content Placeholder 4">
            <a:extLst>
              <a:ext uri="{FF2B5EF4-FFF2-40B4-BE49-F238E27FC236}">
                <a16:creationId xmlns:a16="http://schemas.microsoft.com/office/drawing/2014/main" id="{05BDA117-0999-E88F-040B-9E370F2C5E16}"/>
              </a:ext>
            </a:extLst>
          </p:cNvPr>
          <p:cNvSpPr>
            <a:spLocks noGrp="1"/>
          </p:cNvSpPr>
          <p:nvPr>
            <p:ph idx="1"/>
          </p:nvPr>
        </p:nvSpPr>
        <p:spPr>
          <a:xfrm>
            <a:off x="447817" y="1168740"/>
            <a:ext cx="11029615" cy="3678303"/>
          </a:xfrm>
        </p:spPr>
        <p:txBody>
          <a:bodyPr/>
          <a:lstStyle/>
          <a:p>
            <a:r>
              <a:rPr lang="en-US" dirty="0"/>
              <a:t>At Airbnb, data is at the heart of every decision we make. As the company continues to grow in one of its most competitive markets — Manhattan, New York — the need for a dedicated data analyst has never been greater. With thousands of active listings, hosts, and guest bookings flowing through our platform daily, we can no longer rely on intuition alone to guide our business strategy. The role of the data analyst is to transform that raw operational data into clear, actionable insights: identifying which neighborhoods and listing types drive the most revenue, understanding guest behavior and seasonal trends, evaluating the impact of our Superhost program, and flagging quality or pricing issues before they affect guest trust. The analysis presented here uses a fully normalized relational database built from real Manhattan listing data, and every query has been designed to answer a question that directly impacts how Airbnb operates, competes, and grows. </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process</a:t>
            </a:r>
          </a:p>
        </p:txBody>
      </p:sp>
      <p:sp>
        <p:nvSpPr>
          <p:cNvPr id="4" name="Content Placeholder 3">
            <a:extLst>
              <a:ext uri="{FF2B5EF4-FFF2-40B4-BE49-F238E27FC236}">
                <a16:creationId xmlns:a16="http://schemas.microsoft.com/office/drawing/2014/main" id="{EE7E81FD-21FF-D288-057F-06666B89F2B2}"/>
              </a:ext>
            </a:extLst>
          </p:cNvPr>
          <p:cNvSpPr>
            <a:spLocks noGrp="1"/>
          </p:cNvSpPr>
          <p:nvPr>
            <p:ph sz="half" idx="1"/>
          </p:nvPr>
        </p:nvSpPr>
        <p:spPr>
          <a:xfrm>
            <a:off x="581193" y="2228003"/>
            <a:ext cx="9910344" cy="3633047"/>
          </a:xfrm>
        </p:spPr>
        <p:txBody>
          <a:bodyPr>
            <a:normAutofit/>
          </a:bodyPr>
          <a:lstStyle/>
          <a:p>
            <a:endParaRPr lang="en-US" dirty="0"/>
          </a:p>
          <a:p>
            <a:r>
              <a:rPr lang="en-US" dirty="0"/>
              <a:t>Downloaded the database and turned it into a CSV file</a:t>
            </a:r>
          </a:p>
          <a:p>
            <a:r>
              <a:rPr lang="en-US" dirty="0"/>
              <a:t>Cleaned the data using Excel</a:t>
            </a:r>
          </a:p>
          <a:p>
            <a:r>
              <a:rPr lang="en-US" dirty="0"/>
              <a:t>Uploaded data using VS Code</a:t>
            </a:r>
          </a:p>
          <a:p>
            <a:r>
              <a:rPr lang="en-US" dirty="0"/>
              <a:t>Created 12 T-SQL queries to analyze the Airbnb company’s performance</a:t>
            </a:r>
          </a:p>
          <a:p>
            <a:r>
              <a:rPr lang="en-US" dirty="0"/>
              <a:t>Visualization key results using Excel</a:t>
            </a:r>
          </a:p>
          <a:p>
            <a:r>
              <a:rPr lang="en-US" dirty="0"/>
              <a:t>Collaborated with teammate via GitHub</a:t>
            </a:r>
          </a:p>
        </p:txBody>
      </p:sp>
      <p:sp>
        <p:nvSpPr>
          <p:cNvPr id="6" name="Content Placeholder 5">
            <a:extLst>
              <a:ext uri="{FF2B5EF4-FFF2-40B4-BE49-F238E27FC236}">
                <a16:creationId xmlns:a16="http://schemas.microsoft.com/office/drawing/2014/main" id="{636C24D0-CC71-3FDD-CC0B-54EC89631EC8}"/>
              </a:ext>
            </a:extLst>
          </p:cNvPr>
          <p:cNvSpPr>
            <a:spLocks noGrp="1"/>
          </p:cNvSpPr>
          <p:nvPr>
            <p:ph sz="half" idx="2"/>
          </p:nvPr>
        </p:nvSpPr>
        <p:spPr/>
        <p:txBody>
          <a:bodyPr>
            <a:normAutofit/>
          </a:bodyPr>
          <a:lstStyle/>
          <a:p>
            <a:pPr marL="0" indent="0">
              <a:buNone/>
            </a:pPr>
            <a:endParaRPr lang="en-US" dirty="0"/>
          </a:p>
          <a:p>
            <a:endParaRPr lang="en-US" dirty="0"/>
          </a:p>
          <a:p>
            <a:endParaRPr lang="en-US" dirty="0"/>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66A9-36D2-5176-902B-C48AFD800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829BF-87F4-01FB-7D7F-0EC2AC25B699}"/>
              </a:ext>
            </a:extLst>
          </p:cNvPr>
          <p:cNvSpPr>
            <a:spLocks noGrp="1"/>
          </p:cNvSpPr>
          <p:nvPr>
            <p:ph type="title"/>
          </p:nvPr>
        </p:nvSpPr>
        <p:spPr/>
        <p:txBody>
          <a:bodyPr/>
          <a:lstStyle/>
          <a:p>
            <a:r>
              <a:rPr lang="en-US" dirty="0"/>
              <a:t>Data analyst questions</a:t>
            </a:r>
          </a:p>
        </p:txBody>
      </p:sp>
      <p:sp>
        <p:nvSpPr>
          <p:cNvPr id="4" name="Content Placeholder 3">
            <a:extLst>
              <a:ext uri="{FF2B5EF4-FFF2-40B4-BE49-F238E27FC236}">
                <a16:creationId xmlns:a16="http://schemas.microsoft.com/office/drawing/2014/main" id="{B9094755-B6A7-2EE1-C044-BE34B23CF01D}"/>
              </a:ext>
            </a:extLst>
          </p:cNvPr>
          <p:cNvSpPr>
            <a:spLocks noGrp="1"/>
          </p:cNvSpPr>
          <p:nvPr>
            <p:ph sz="half" idx="1"/>
          </p:nvPr>
        </p:nvSpPr>
        <p:spPr/>
        <p:txBody>
          <a:bodyPr>
            <a:normAutofit lnSpcReduction="10000"/>
          </a:bodyPr>
          <a:lstStyle/>
          <a:p>
            <a:endParaRPr lang="en-US" dirty="0"/>
          </a:p>
          <a:p>
            <a:r>
              <a:rPr lang="en-US" dirty="0"/>
              <a:t>"Which Manhattan neighborhoods are commanding the highest nightly rates right now, and how wide is the gap between the cheapest and most expensive?“</a:t>
            </a:r>
          </a:p>
          <a:p>
            <a:r>
              <a:rPr lang="en-US" dirty="0"/>
              <a:t>"Where is Airbnb actually generating the most revenue across Manhattan? I want to know which neighborhoods our guests are spending the most money in.“</a:t>
            </a:r>
          </a:p>
          <a:p>
            <a:r>
              <a:rPr lang="en-US" dirty="0"/>
              <a:t>"Between entire apartments, private rooms, hotel rooms, and shared rooms — which listing type is our guests choosing the most, and which gets the best reviews?"</a:t>
            </a:r>
          </a:p>
          <a:p>
            <a:endParaRPr lang="en-US" dirty="0"/>
          </a:p>
          <a:p>
            <a:endParaRPr lang="en-US" dirty="0"/>
          </a:p>
        </p:txBody>
      </p:sp>
      <p:sp>
        <p:nvSpPr>
          <p:cNvPr id="6" name="Content Placeholder 5">
            <a:extLst>
              <a:ext uri="{FF2B5EF4-FFF2-40B4-BE49-F238E27FC236}">
                <a16:creationId xmlns:a16="http://schemas.microsoft.com/office/drawing/2014/main" id="{147F1B04-3054-90B4-E79F-0E8CF1BFC148}"/>
              </a:ext>
            </a:extLst>
          </p:cNvPr>
          <p:cNvSpPr>
            <a:spLocks noGrp="1"/>
          </p:cNvSpPr>
          <p:nvPr>
            <p:ph sz="half" idx="2"/>
          </p:nvPr>
        </p:nvSpPr>
        <p:spPr/>
        <p:txBody>
          <a:bodyPr>
            <a:normAutofit lnSpcReduction="10000"/>
          </a:bodyPr>
          <a:lstStyle/>
          <a:p>
            <a:endParaRPr lang="en-US" dirty="0"/>
          </a:p>
          <a:p>
            <a:r>
              <a:rPr lang="en-US" dirty="0"/>
              <a:t>"I keep hearing that our Superhost </a:t>
            </a:r>
            <a:r>
              <a:rPr lang="en-US" dirty="0" err="1"/>
              <a:t>programme</a:t>
            </a:r>
            <a:r>
              <a:rPr lang="en-US" dirty="0"/>
              <a:t> drives better outcomes. Do </a:t>
            </a:r>
            <a:r>
              <a:rPr lang="en-US" dirty="0" err="1"/>
              <a:t>Superhosts</a:t>
            </a:r>
            <a:r>
              <a:rPr lang="en-US" dirty="0"/>
              <a:t> actually earn more and get higher ratings than regular hosts? Show me the data."</a:t>
            </a:r>
          </a:p>
          <a:p>
            <a:r>
              <a:rPr lang="en-US" dirty="0"/>
              <a:t>"Where are our Manhattan hosts actually based? I want to understand whether local hosts or remote hosts are running the majority of our listings.“</a:t>
            </a:r>
          </a:p>
          <a:p>
            <a:r>
              <a:rPr lang="en-US" dirty="0"/>
              <a:t>"When during the year are our guests booking the most? Are there seasonal peaks we should be preparing our hosts and pricing algorithms for?"</a:t>
            </a:r>
          </a:p>
          <a:p>
            <a:endParaRPr lang="en-US" dirty="0"/>
          </a:p>
          <a:p>
            <a:endParaRPr lang="en-US" dirty="0"/>
          </a:p>
          <a:p>
            <a:endParaRPr lang="en-US" dirty="0"/>
          </a:p>
        </p:txBody>
      </p:sp>
    </p:spTree>
    <p:extLst>
      <p:ext uri="{BB962C8B-B14F-4D97-AF65-F5344CB8AC3E}">
        <p14:creationId xmlns:p14="http://schemas.microsoft.com/office/powerpoint/2010/main" val="3559810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58F9-AE5C-33EF-A865-72BD3A671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45F83-6781-D0C8-154F-0646E698A4BF}"/>
              </a:ext>
            </a:extLst>
          </p:cNvPr>
          <p:cNvSpPr>
            <a:spLocks noGrp="1"/>
          </p:cNvSpPr>
          <p:nvPr>
            <p:ph type="title"/>
          </p:nvPr>
        </p:nvSpPr>
        <p:spPr/>
        <p:txBody>
          <a:bodyPr/>
          <a:lstStyle/>
          <a:p>
            <a:r>
              <a:rPr lang="en-US" dirty="0"/>
              <a:t>Data analyst questions</a:t>
            </a:r>
          </a:p>
        </p:txBody>
      </p:sp>
      <p:sp>
        <p:nvSpPr>
          <p:cNvPr id="4" name="Content Placeholder 3">
            <a:extLst>
              <a:ext uri="{FF2B5EF4-FFF2-40B4-BE49-F238E27FC236}">
                <a16:creationId xmlns:a16="http://schemas.microsoft.com/office/drawing/2014/main" id="{A1D372E2-7273-F249-5728-6E2739BD503E}"/>
              </a:ext>
            </a:extLst>
          </p:cNvPr>
          <p:cNvSpPr>
            <a:spLocks noGrp="1"/>
          </p:cNvSpPr>
          <p:nvPr>
            <p:ph sz="half" idx="1"/>
          </p:nvPr>
        </p:nvSpPr>
        <p:spPr/>
        <p:txBody>
          <a:bodyPr>
            <a:normAutofit/>
          </a:bodyPr>
          <a:lstStyle/>
          <a:p>
            <a:r>
              <a:rPr lang="en-US" dirty="0"/>
              <a:t>"Give me a single snapshot of the Manhattan market right now, total active listings, average nightly price, total revenue generated, and average guest rating."</a:t>
            </a:r>
          </a:p>
          <a:p>
            <a:r>
              <a:rPr lang="en-US" dirty="0"/>
              <a:t>"Which hosts are charging significantly above what their neighborhoods' market rate would justify? I want to flag potential guest trust issues before they hurt our ratings."</a:t>
            </a:r>
          </a:p>
          <a:p>
            <a:br>
              <a:rPr lang="en-US" dirty="0"/>
            </a:br>
            <a:br>
              <a:rPr lang="en-US" dirty="0"/>
            </a:br>
            <a:endParaRPr lang="en-US" dirty="0"/>
          </a:p>
          <a:p>
            <a:endParaRPr lang="en-US" dirty="0"/>
          </a:p>
          <a:p>
            <a:endParaRPr lang="en-US" dirty="0"/>
          </a:p>
        </p:txBody>
      </p:sp>
      <p:sp>
        <p:nvSpPr>
          <p:cNvPr id="6" name="Content Placeholder 5">
            <a:extLst>
              <a:ext uri="{FF2B5EF4-FFF2-40B4-BE49-F238E27FC236}">
                <a16:creationId xmlns:a16="http://schemas.microsoft.com/office/drawing/2014/main" id="{152B803D-04CE-E5AD-E48D-F537D6EB6118}"/>
              </a:ext>
            </a:extLst>
          </p:cNvPr>
          <p:cNvSpPr>
            <a:spLocks noGrp="1"/>
          </p:cNvSpPr>
          <p:nvPr>
            <p:ph sz="half" idx="2"/>
          </p:nvPr>
        </p:nvSpPr>
        <p:spPr/>
        <p:txBody>
          <a:bodyPr>
            <a:normAutofit/>
          </a:bodyPr>
          <a:lstStyle/>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8678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03095" y="879167"/>
            <a:ext cx="3081576" cy="1746762"/>
          </a:xfrm>
        </p:spPr>
        <p:txBody>
          <a:bodyPr>
            <a:normAutofit/>
          </a:bodyPr>
          <a:lstStyle/>
          <a:p>
            <a:r>
              <a:rPr lang="en-US" dirty="0">
                <a:solidFill>
                  <a:srgbClr val="FFFFFF"/>
                </a:solidFill>
              </a:rPr>
              <a:t>references</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232013" y="1336368"/>
            <a:ext cx="7713138" cy="3305571"/>
          </a:xfrm>
        </p:spPr>
        <p:txBody>
          <a:bodyPr>
            <a:normAutofit/>
          </a:bodyPr>
          <a:lstStyle/>
          <a:p>
            <a:pPr marL="285750" indent="-285750">
              <a:buFont typeface="Arial" panose="020B0604020202020204" pitchFamily="34" charset="0"/>
              <a:buChar char="•"/>
            </a:pPr>
            <a:r>
              <a:rPr lang="en-US" dirty="0">
                <a:solidFill>
                  <a:schemeClr val="tx1"/>
                </a:solidFill>
              </a:rPr>
              <a:t> </a:t>
            </a:r>
            <a:r>
              <a:rPr lang="en-US" dirty="0">
                <a:solidFill>
                  <a:schemeClr val="tx1"/>
                </a:solidFill>
                <a:hlinkClick r:id="rId3"/>
              </a:rPr>
              <a:t>https://www.kaggle.com/datasets/ahmedshahriarsakib/usa-real-estate-dataset</a:t>
            </a:r>
            <a:r>
              <a:rPr lang="en-US" dirty="0">
                <a:solidFill>
                  <a:schemeClr val="tx1"/>
                </a:solidFill>
              </a:rPr>
              <a:t> source of Airbnb dataset</a:t>
            </a:r>
          </a:p>
          <a:p>
            <a:pPr marL="285750" indent="-285750">
              <a:buFont typeface="Arial" panose="020B0604020202020204" pitchFamily="34" charset="0"/>
              <a:buChar char="•"/>
            </a:pPr>
            <a:r>
              <a:rPr lang="en-US" dirty="0">
                <a:solidFill>
                  <a:schemeClr val="tx1"/>
                </a:solidFill>
                <a:hlinkClick r:id="rId4"/>
              </a:rPr>
              <a:t>https://github.com/Edcaly/Airbnb-Analytics-</a:t>
            </a:r>
            <a:r>
              <a:rPr lang="en-US" dirty="0">
                <a:solidFill>
                  <a:schemeClr val="tx1"/>
                </a:solidFill>
              </a:rPr>
              <a:t> our GitHub repository</a:t>
            </a:r>
          </a:p>
          <a:p>
            <a:pPr marL="285750" indent="-285750">
              <a:buFont typeface="Arial" panose="020B0604020202020204" pitchFamily="34" charset="0"/>
              <a:buChar char="•"/>
            </a:pPr>
            <a:r>
              <a:rPr lang="en-US" dirty="0">
                <a:solidFill>
                  <a:schemeClr val="tx1"/>
                </a:solidFill>
                <a:hlinkClick r:id="rId5"/>
              </a:rPr>
              <a:t>https://claude.ai.com</a:t>
            </a:r>
            <a:r>
              <a:rPr lang="en-US" dirty="0">
                <a:solidFill>
                  <a:schemeClr val="tx1"/>
                </a:solidFill>
              </a:rPr>
              <a:t> Assistance with t-SQL QUESTIONS</a:t>
            </a:r>
          </a:p>
          <a:p>
            <a:endParaRPr lang="en-US" dirty="0">
              <a:solidFill>
                <a:schemeClr val="bg2"/>
              </a:solidFill>
            </a:endParaRPr>
          </a:p>
          <a:p>
            <a:endParaRPr lang="en-US" dirty="0">
              <a:solidFill>
                <a:schemeClr val="bg2"/>
              </a:solidFill>
            </a:endParaRP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184</TotalTime>
  <Words>504</Words>
  <Application>Microsoft Office PowerPoint</Application>
  <PresentationFormat>Widescreen</PresentationFormat>
  <Paragraphs>36</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Gill Sans MT</vt:lpstr>
      <vt:lpstr>Wingdings 2</vt:lpstr>
      <vt:lpstr>Dividend</vt:lpstr>
      <vt:lpstr>Airbnb business performance</vt:lpstr>
      <vt:lpstr>INTRODUCTION</vt:lpstr>
      <vt:lpstr>process</vt:lpstr>
      <vt:lpstr>Data analyst questions</vt:lpstr>
      <vt:lpstr>Data analyst 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lalla fall</dc:creator>
  <cp:lastModifiedBy>lalla fall</cp:lastModifiedBy>
  <cp:revision>1</cp:revision>
  <dcterms:created xsi:type="dcterms:W3CDTF">2026-04-22T22:35:54Z</dcterms:created>
  <dcterms:modified xsi:type="dcterms:W3CDTF">2026-04-23T01:40:37Z</dcterms:modified>
</cp:coreProperties>
</file>